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sldIdLst>
    <p:sldId id="425" r:id="rId2"/>
    <p:sldId id="456" r:id="rId3"/>
    <p:sldId id="468" r:id="rId4"/>
    <p:sldId id="459" r:id="rId5"/>
    <p:sldId id="464" r:id="rId6"/>
    <p:sldId id="466" r:id="rId7"/>
    <p:sldId id="465" r:id="rId8"/>
    <p:sldId id="467" r:id="rId9"/>
    <p:sldId id="457" r:id="rId10"/>
  </p:sldIdLst>
  <p:sldSz cx="12192000" cy="6858000"/>
  <p:notesSz cx="6858000" cy="9144000"/>
  <p:embeddedFontLst>
    <p:embeddedFont>
      <p:font typeface="Pretendard" panose="02000503000000020004" pitchFamily="2" charset="-127"/>
      <p:regular r:id="rId12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790"/>
    <a:srgbClr val="343A40"/>
    <a:srgbClr val="D4A24C"/>
    <a:srgbClr val="E8EEF5"/>
    <a:srgbClr val="90652C"/>
    <a:srgbClr val="A9BED8"/>
    <a:srgbClr val="183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5" autoAdjust="0"/>
    <p:restoredTop sz="94182" autoAdjust="0"/>
  </p:normalViewPr>
  <p:slideViewPr>
    <p:cSldViewPr snapToGrid="0" showGuides="1">
      <p:cViewPr varScale="1">
        <p:scale>
          <a:sx n="100" d="100"/>
          <a:sy n="100" d="100"/>
        </p:scale>
        <p:origin x="144" y="90"/>
      </p:cViewPr>
      <p:guideLst>
        <p:guide orient="horz" pos="2387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07BD8-6762-44E9-98DD-081459F05164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0508B-F21D-4930-90F1-59AA18205D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9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B9B15-6C78-C57D-4F88-BDD6172AB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A570C-746B-7FFC-4F1F-C03FED7CB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57AEA-B6E4-590A-E7E9-C260F251C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66AFE-DFE8-C370-F0EA-424E63825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67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1C76-9660-045A-50FA-958CBEDC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82964-D8B0-F85A-35C7-340160C7B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B2039-DAD9-4E01-5FD1-601C40D4B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C0164-01D6-CB58-0F47-B48E7B2DEC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029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0953-D857-0CD4-B917-97475C9D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3F4A5-A6C0-6C65-FAAD-D7F30E588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F151C-D1D6-F9B1-70CB-4B22BA0DB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CDB56-06DB-06D7-A6ED-B947F2E17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244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D5811-D3EB-7BDB-FDE4-3B135590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8D41D-4422-50B1-5FE9-E06BB064F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C612D-D622-C731-6C1F-56D146EBD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EC95-521F-FE36-359F-6DDC0A63D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929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AA26-8335-BBCD-CE1F-8B2C9F7E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CED590-71E0-4424-F085-4EFF0A1FB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D3585-A398-1CA0-DA96-A4CBC9FF8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49E19-321F-932D-6B76-65AAED567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5606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693FA-0333-BB67-A5CD-DFF54964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EC169-4EEC-B2C4-70BF-9EECA762F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41B3E-45C1-54B7-608C-D736CEE59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70CBC-56CA-8D92-C6C6-F9151F10C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255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3F3E-FBCD-4103-7DFA-73DFAF1A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4C53E-BED9-360C-ADBB-F60BB86E7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12355-737B-788D-3EA3-217B4A1B6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A44EB-17DD-45C8-C1DE-4E990A6DA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7156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4F2B-006C-6042-C8E3-CBD6BB17B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A2AB03-3BDD-4AEC-9C05-917B064ED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28997-A246-32C9-A87D-F2CD31963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8BE64-86D0-9178-FC7F-75A9C5C254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405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EE0A0-391C-85CC-3DE8-E603E79F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7FDDF-053B-7898-28A4-B99857131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8D767-BA43-5357-D35F-60744F85F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6B37E-B647-13BB-DC46-8D76A1EFD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988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8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57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3E8BD-1296-C8C2-3138-68495C9D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84BDB0EF-1FD4-A457-2FB0-D0847C34E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8A5473-2189-5701-89D7-4332D4773B21}"/>
              </a:ext>
            </a:extLst>
          </p:cNvPr>
          <p:cNvSpPr txBox="1"/>
          <p:nvPr/>
        </p:nvSpPr>
        <p:spPr>
          <a:xfrm>
            <a:off x="967637" y="3116061"/>
            <a:ext cx="7319113" cy="2522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에이프로</a:t>
            </a:r>
            <a:r>
              <a:rPr lang="ko-KR" altLang="en-US" sz="12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활성화 설비</a:t>
            </a:r>
            <a:endParaRPr lang="en-US" altLang="ko-KR" sz="1200" b="1" dirty="0">
              <a:solidFill>
                <a:srgbClr val="2C579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Pre-formation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0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고온가압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충방전기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(High Temperature, Pressure, Formation)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Degas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충방전기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(Formation)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DCIR (DC Internal Resistance Tester)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IR-OCV (Internal Resistance &amp; Open Circuit Voltage Tester)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OCV (Open Circuit Voltage Tester)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DSF/EOL (Double Side Folding / End Of Line)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Selector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0096B49-5011-013E-0E86-0569F0C86DF3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097ED43-DEF1-A41F-4F49-AC37D2CEBC96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80027-459A-8B75-3D3B-D9CED55C9FC5}"/>
              </a:ext>
            </a:extLst>
          </p:cNvPr>
          <p:cNvSpPr txBox="1"/>
          <p:nvPr/>
        </p:nvSpPr>
        <p:spPr>
          <a:xfrm>
            <a:off x="967637" y="1438830"/>
            <a:ext cx="7782663" cy="1518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0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에이프로는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이차전지 활성화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(Formation)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공정 전체 설비의 자체 제작 기술을 보유하고 있으며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 공정에 필요한 </a:t>
            </a:r>
            <a:r>
              <a:rPr lang="en-US" altLang="ko-KR" sz="1050" b="1" strike="sngStrike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</a:t>
            </a:r>
            <a:r>
              <a:rPr lang="ko-KR" altLang="en-US" sz="1050" b="1" strike="sngStrike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가지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설비를 직접 생산하여 국내외 고객사에 납품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하고 있습니다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 셀 활성화 공정은 셀 제조의 마지막 단계로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배터리의 성능과 품질을 최종적으로 결정하는 핵심 공정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활성화 공정은 초기 충전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(SEI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Layer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형성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lang="ko-KR" altLang="en-US" sz="1050" strike="sngStrike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노화</a:t>
            </a:r>
            <a:r>
              <a:rPr lang="en-US" altLang="ko-KR" sz="1050" strike="sngStrike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방전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반복 충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방전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용량 및 성능 검사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불량 선별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외관 검사 순으로 진행됩니다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0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에이프로는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정밀 충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방전 기술과 자동화 역량을 기반으로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 셀 활성화 공정 전반을 아우르는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통합 자동화 솔루션을 제공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합니다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0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에이프로는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각 공정에서 발생하는 전압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전류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온도 등의 데이터를 정밀하게 측정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관리하여 </a:t>
            </a:r>
            <a:r>
              <a:rPr lang="ko-KR" altLang="en-US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배터리 셀의 품질과 생산 안정성을 향상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시킵니다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4E4ED7-E65D-E943-0D73-CEB201CB8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67350" y="3075196"/>
            <a:ext cx="6721409" cy="3782803"/>
          </a:xfrm>
          <a:prstGeom prst="rect">
            <a:avLst/>
          </a:prstGeom>
        </p:spPr>
      </p:pic>
      <p:sp>
        <p:nvSpPr>
          <p:cNvPr id="11" name="Text 21">
            <a:extLst>
              <a:ext uri="{FF2B5EF4-FFF2-40B4-BE49-F238E27FC236}">
                <a16:creationId xmlns:a16="http://schemas.microsoft.com/office/drawing/2014/main" id="{67C4341A-2D0B-69BD-7612-92C674075105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0DCCC-46D1-E661-AF0F-C0D45EF007C5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866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1BDD-21DB-DDC7-2BB3-BB14A08C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0125E3C-A91A-D47F-38C4-4C489A7ED2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5B45188E-1535-D20A-2A29-DF6C8F2B60B7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5B40BA2-759A-00B0-FDB2-48755F65E934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20404143-A2C6-82C9-6526-11D926436C76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82EBE8-FEAE-4ADE-A18C-30672F0CA320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9344269-DDED-741A-0A7A-7D4C358A18AB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38A40C-8C1D-0E27-DDCA-0C40E5AA73E7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1815F6-8843-9794-6168-AB878652110C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5B267F8-1F1C-855E-F9E4-EEF7BCB81205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542984-3219-950B-023E-D2F156A3AF85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D2CB90-9F40-5D21-772E-BE5A2BCB224E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2D6AEA-24E4-6FF2-C30F-B7CBA3E8BC51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97F6B002-7EF2-DBC4-0952-249F04FC609B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C7F948DC-79C1-2758-476A-3049F391EAD0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3B5423AA-CB68-56C2-2D60-F45F4009C681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EF717F5A-2CCF-4894-BABC-3E9474DC1364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AF606B43-D48A-DC65-07EA-6ABB151C6D9F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DCC553C-909F-DD71-9277-FBC4DFBD283B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05E1E43E-9F9C-2119-F447-2129914F0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C3AD7F0E-4DF6-15DE-19E8-7AB0B9482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897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3AB83-1952-131E-D1A1-66795B5F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34F366A-BF4A-0294-C895-21C0DB377BB2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160A581-2CFF-75E0-C13F-2E39C82EF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9676FE1-8471-C447-6F3D-F928FDBF2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5C981D96-EECD-455A-7193-670A217E74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5137E33B-4681-5A62-EDFA-0DF19F1971B9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CF4A2A8-718E-1088-A10E-CD6D792A5955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B45C721D-F636-B5E3-5EDD-50A096EFE064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7428B-37C8-8350-FB9C-DCCF2FCFC46D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C003EF7-7910-D922-7D25-8366A6D7AD84}"/>
              </a:ext>
            </a:extLst>
          </p:cNvPr>
          <p:cNvCxnSpPr>
            <a:cxnSpLocks/>
          </p:cNvCxnSpPr>
          <p:nvPr/>
        </p:nvCxnSpPr>
        <p:spPr>
          <a:xfrm flipV="1">
            <a:off x="2352675" y="2828925"/>
            <a:ext cx="0" cy="236220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FF1DFF0-FC89-2D60-B5CD-E6F4219CD9A0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DE9E03-A54D-C311-DFA1-4277E620A23A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8751B5-3CB5-7ADD-2D32-A2E057CFDA9E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59C774-4E49-02A1-512C-85DC35AF5369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17A376-A815-E7FB-BD92-296488330577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6C6DD6-5EAD-E792-B118-3E73A761FDF6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5701AD-7888-7C9B-D063-8D7C1FC62369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D7DBDF5D-3631-6019-5AC7-4BA2D08F14CB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EDF765FF-7456-35EA-4E8E-3D9101990B3A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21164FF1-66A9-2B28-4E4C-026C9A72A8C6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179A1119-AB0D-990E-F1D1-489C8FCE114F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4ED2A472-D63D-6C46-B5FD-A1DE10B5DA2A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02B0D8C-02F8-956C-CB00-BB76189EFD90}"/>
              </a:ext>
            </a:extLst>
          </p:cNvPr>
          <p:cNvSpPr txBox="1"/>
          <p:nvPr/>
        </p:nvSpPr>
        <p:spPr>
          <a:xfrm>
            <a:off x="2449784" y="2821110"/>
            <a:ext cx="3928213" cy="79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Pre-formation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0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고온가압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충방전기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(High Temperature, Pressure, Formation)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Selector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03714EC-64D5-8339-8662-600385F68F7E}"/>
              </a:ext>
            </a:extLst>
          </p:cNvPr>
          <p:cNvGrpSpPr/>
          <p:nvPr/>
        </p:nvGrpSpPr>
        <p:grpSpPr>
          <a:xfrm>
            <a:off x="171450" y="1997365"/>
            <a:ext cx="11176138" cy="651581"/>
            <a:chOff x="171450" y="1997365"/>
            <a:chExt cx="11176138" cy="651581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BB0800D-F8DB-8E24-408E-86A182892EBF}"/>
                </a:ext>
              </a:extLst>
            </p:cNvPr>
            <p:cNvSpPr/>
            <p:nvPr/>
          </p:nvSpPr>
          <p:spPr>
            <a:xfrm>
              <a:off x="2230801" y="1997365"/>
              <a:ext cx="9116787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AD4F25A-7E45-4FE4-FABC-619D3AA5C150}"/>
                </a:ext>
              </a:extLst>
            </p:cNvPr>
            <p:cNvSpPr/>
            <p:nvPr/>
          </p:nvSpPr>
          <p:spPr>
            <a:xfrm>
              <a:off x="171450" y="1999516"/>
              <a:ext cx="774265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137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9C35-62F8-8EA1-7DFD-8244A126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2F27368-A9F1-C32B-EB33-A09C59E63479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AF9B5A9-A038-C226-3935-D7E1C7466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CEB0CD0-0466-F911-CB61-4D1E38FA6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62D63FA6-ED5C-89C6-FD75-455E52C05F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E11DFA73-0FCC-2084-F679-CEF7A5F467F6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EEFF7CAF-5454-CD64-704D-96FF40A0CF8A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8238F1EE-0B0B-F576-A34E-E35D3DD27CBD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C1824-9E27-7051-5A53-A11711B24AC2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07C7FCD-0F3E-4DFC-5C25-05170FCE64A2}"/>
              </a:ext>
            </a:extLst>
          </p:cNvPr>
          <p:cNvCxnSpPr>
            <a:cxnSpLocks/>
          </p:cNvCxnSpPr>
          <p:nvPr/>
        </p:nvCxnSpPr>
        <p:spPr>
          <a:xfrm flipV="1">
            <a:off x="3364359" y="2828925"/>
            <a:ext cx="0" cy="236220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E835DF1-2D0F-0657-1FD0-32D1E4E739CC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C774A21-4543-1370-FFC1-212CD9F7ECCB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E30990-DABB-815C-95FA-40246D4B66C4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40D3B2-38B3-128C-6F9B-654FF195AB6A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5697372-8186-DBDB-E859-59492F155F5E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E6D031-A8B6-B46C-83C0-02E45E50E56A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F99381-AF7B-3881-99EF-38FBD6B37813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2EDC7C82-F3D1-625A-55BC-C6995DDC1317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3C994E35-6287-94C3-4706-82078ACF0A9B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99BD9CDC-F185-85C5-DDBA-B62C6B7FA769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43AAB8EE-1928-5F66-8F68-4EB66A89C4B7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5D57258B-4792-278E-B5E3-05F549B09D42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ECEC3AE-5FFA-A496-8611-6211E356C747}"/>
              </a:ext>
            </a:extLst>
          </p:cNvPr>
          <p:cNvSpPr txBox="1"/>
          <p:nvPr/>
        </p:nvSpPr>
        <p:spPr>
          <a:xfrm>
            <a:off x="3461468" y="2821110"/>
            <a:ext cx="3928213" cy="306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Degas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C62974F-34D4-9AAE-BEEC-B0F8CE3B57C5}"/>
              </a:ext>
            </a:extLst>
          </p:cNvPr>
          <p:cNvGrpSpPr/>
          <p:nvPr/>
        </p:nvGrpSpPr>
        <p:grpSpPr>
          <a:xfrm>
            <a:off x="473886" y="2028835"/>
            <a:ext cx="11470304" cy="651581"/>
            <a:chOff x="-954864" y="1997365"/>
            <a:chExt cx="11470304" cy="65158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C39815C-84E3-94EC-BFB0-763A16107B9F}"/>
                </a:ext>
              </a:extLst>
            </p:cNvPr>
            <p:cNvSpPr/>
            <p:nvPr/>
          </p:nvSpPr>
          <p:spPr>
            <a:xfrm>
              <a:off x="2230801" y="1997365"/>
              <a:ext cx="8284639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35D3EB-74F7-8FA5-EA0E-B9DA1817B900}"/>
                </a:ext>
              </a:extLst>
            </p:cNvPr>
            <p:cNvSpPr/>
            <p:nvPr/>
          </p:nvSpPr>
          <p:spPr>
            <a:xfrm>
              <a:off x="-954864" y="1999516"/>
              <a:ext cx="1900579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661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0130-4E7A-57B4-E729-8BD90545D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0056F06-A968-6C89-61EA-228CB2875D3D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A5959DE-B4B8-3CEC-6A20-011A4355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D70337B-5917-DF0E-80E2-981A22274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38E2864D-D0DC-FA77-1FA8-EB1F073CF1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1A9B27AF-8739-7020-EAA7-444E51F2A95F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A89C3406-A52F-E21D-8CA7-8677B8ECA202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EB6156CD-1D99-5F64-A97C-04787C25595F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268469-2F01-D23B-27E6-7E57EC6E50CE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1CD959D-B063-FEC4-9965-B2860C9E6CEC}"/>
              </a:ext>
            </a:extLst>
          </p:cNvPr>
          <p:cNvCxnSpPr>
            <a:cxnSpLocks/>
          </p:cNvCxnSpPr>
          <p:nvPr/>
        </p:nvCxnSpPr>
        <p:spPr>
          <a:xfrm flipV="1">
            <a:off x="4998604" y="2828925"/>
            <a:ext cx="0" cy="236220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64B0FFE-323F-2A8D-7127-7506F7FD93B2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42BB36-E4DD-47DA-CB49-5BA778609254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D1FD9A-7A6E-E0E9-6A50-D5BBADB27C90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564170E-991E-836C-AB8E-87690B10D77F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7F82B79-0A56-C6A2-5DD3-03460FEEA8C3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94970C-BD38-C8A6-E853-95FA5D09B1CE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35C4F10-1E45-261A-C697-02580FE54021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0DD8D957-FA24-FC28-9C53-8C9CF2DFD326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74510B8C-C031-D456-2F44-0A26D3DD4EBC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EBD9F627-7DEF-5CCF-4339-22DE8FC9F608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D7D43277-EB25-B072-20CD-0A05A6636A03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3546964C-94F9-75DD-D90E-0C6D60635DD1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A047AF9-7C1B-96CE-701E-71E2CFFC92EF}"/>
              </a:ext>
            </a:extLst>
          </p:cNvPr>
          <p:cNvSpPr txBox="1"/>
          <p:nvPr/>
        </p:nvSpPr>
        <p:spPr>
          <a:xfrm>
            <a:off x="5095713" y="2821110"/>
            <a:ext cx="3928213" cy="79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 Temp Aging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Normal Temp Aging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Shipping Temp Aging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774A04-D689-C1F8-A04B-C883404D034C}"/>
              </a:ext>
            </a:extLst>
          </p:cNvPr>
          <p:cNvGrpSpPr/>
          <p:nvPr/>
        </p:nvGrpSpPr>
        <p:grpSpPr>
          <a:xfrm>
            <a:off x="1" y="1997365"/>
            <a:ext cx="12192000" cy="651581"/>
            <a:chOff x="-3152775" y="1997365"/>
            <a:chExt cx="14500363" cy="65158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607CC38-C69D-435B-DC7F-29697983DD20}"/>
                </a:ext>
              </a:extLst>
            </p:cNvPr>
            <p:cNvSpPr/>
            <p:nvPr/>
          </p:nvSpPr>
          <p:spPr>
            <a:xfrm>
              <a:off x="3994867" y="1997365"/>
              <a:ext cx="7352721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B4B8C80-6EC3-0E38-7C04-C61B64AF4510}"/>
                </a:ext>
              </a:extLst>
            </p:cNvPr>
            <p:cNvSpPr/>
            <p:nvPr/>
          </p:nvSpPr>
          <p:spPr>
            <a:xfrm>
              <a:off x="-3152775" y="1999516"/>
              <a:ext cx="4564232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122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DE2AB-13CA-604F-0971-8F7A6438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FDA8743-CE12-CD24-71AD-555A2F082CB6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0DDF5D-0AA4-D98F-CEF1-9A3C5DAF6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A1A87F95-29B5-A592-C004-B0DD5DA4E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1E88354E-744A-9602-07B8-C8690C72B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8A0CFBF4-2A11-574D-D68B-FDC631395E90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4F23A1C-12EE-0C3E-0EDA-B4A3E608F07A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8E61EDA7-B90E-8759-8436-D993B029596B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49D66-1B5E-EC7A-9A40-4B980E963485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69AA10E-099F-9F2C-D98E-6F0C0EFC286E}"/>
              </a:ext>
            </a:extLst>
          </p:cNvPr>
          <p:cNvCxnSpPr>
            <a:cxnSpLocks/>
          </p:cNvCxnSpPr>
          <p:nvPr/>
        </p:nvCxnSpPr>
        <p:spPr>
          <a:xfrm flipV="1">
            <a:off x="7274887" y="2828925"/>
            <a:ext cx="0" cy="236220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ABEBBB3-81FF-4CD9-2029-E43CF85B3B97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0B2F63-C6D3-472B-49DD-C86190EF00C9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F9EB4E-5E12-911C-A929-8B425881769F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F939442-4D0E-8744-A554-FA7DE7487E89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E40DFAA-46DA-2BB6-D12F-08A4B95410E7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</a:t>
              </a:r>
              <a:r>
                <a:rPr lang="ko-KR" altLang="en-US" sz="1100" b="1" dirty="0" err="1">
                  <a:latin typeface="맑은 고딕" panose="020B0503020000020004" pitchFamily="50" charset="-127"/>
                  <a:ea typeface="맑은 고딕" panose="020B0503020000020004" pitchFamily="50" charset="-127"/>
                  <a:cs typeface="Pretendard" panose="02000503000000020004" pitchFamily="2" charset="-127"/>
                </a:rPr>
                <a:t>〮</a:t>
              </a: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방전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68D1E2A-4217-1E5B-D15C-170D9E751D42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0B8A3A-D558-4BBC-60E9-1B7B553A7E7A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028F71AC-1659-3C7D-4D38-E7998C978246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A7043705-EB10-BF9D-F865-CFD5175CAA8D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4E498D81-C468-135D-C25D-F8F2B903A759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9D3AA699-60DA-290C-BF13-6CF9938559CD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7BCBA9EF-88BE-5EE4-ACFE-8AD580411969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0944E8B-F68E-876B-6925-FD07E5D8860A}"/>
              </a:ext>
            </a:extLst>
          </p:cNvPr>
          <p:cNvSpPr txBox="1"/>
          <p:nvPr/>
        </p:nvSpPr>
        <p:spPr>
          <a:xfrm>
            <a:off x="7371996" y="2821110"/>
            <a:ext cx="3928213" cy="549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충방전기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(Formation)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Selector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FB636D-9A8B-F374-C8C0-8B13A19B1032}"/>
              </a:ext>
            </a:extLst>
          </p:cNvPr>
          <p:cNvGrpSpPr/>
          <p:nvPr/>
        </p:nvGrpSpPr>
        <p:grpSpPr>
          <a:xfrm>
            <a:off x="0" y="1997365"/>
            <a:ext cx="12191999" cy="651581"/>
            <a:chOff x="-5057775" y="1997365"/>
            <a:chExt cx="16795886" cy="65158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6D261B1-23DE-3730-3A8A-D41D86C2C50D}"/>
                </a:ext>
              </a:extLst>
            </p:cNvPr>
            <p:cNvSpPr/>
            <p:nvPr/>
          </p:nvSpPr>
          <p:spPr>
            <a:xfrm>
              <a:off x="5368870" y="1997365"/>
              <a:ext cx="6369241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FD965A6-C978-F41B-5F02-30389ADFD5A1}"/>
                </a:ext>
              </a:extLst>
            </p:cNvPr>
            <p:cNvSpPr/>
            <p:nvPr/>
          </p:nvSpPr>
          <p:spPr>
            <a:xfrm>
              <a:off x="-5057775" y="1999516"/>
              <a:ext cx="7892582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267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14F98-2F68-71EE-DCCB-1C795DA8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F53DFC3-5560-246F-B638-1F08CBB313EE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C821EE2-6738-8161-2C7E-05D46DBBE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8E26BA1A-BA54-7C87-7252-374FD3B04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C6A4E3A6-3D44-B4B8-E78D-02447560C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1A35BE24-2D39-42CE-169C-43CE7EDCA03C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560168C-310C-80F7-A33A-17FB68DFAD30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4825D5C2-0BF5-567C-2B97-D62009FC7D8F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395289-1D85-8492-0E05-CA15D6A3E86B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11B6F2D-6A55-60BB-2ED2-71D699E762E6}"/>
              </a:ext>
            </a:extLst>
          </p:cNvPr>
          <p:cNvCxnSpPr>
            <a:cxnSpLocks/>
          </p:cNvCxnSpPr>
          <p:nvPr/>
        </p:nvCxnSpPr>
        <p:spPr>
          <a:xfrm flipV="1">
            <a:off x="6953872" y="2828925"/>
            <a:ext cx="0" cy="2939577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500C53C-51F5-B674-F5FB-BE4F2B4DB4D9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A67808-9E0D-BB6E-59F8-DE560C840841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6959B96-535A-208E-3AD6-847BD4D5CF47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36788C8-30D4-5C6F-59CB-85136CCD8E51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73839A-6EA6-32A6-86F6-E7087905F65B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D2E9CB-8AE7-5D1F-2A39-1400D3CD5BA1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DDE15F-CD13-9899-6F0D-576AF1C76B64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CEB9B3B8-D2C2-0D7F-9BE3-308FFF11CCC1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A7BE2F8C-6AD3-A177-1604-EDC89F6D58E9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200CF251-6770-2380-C4F5-EFF03F3819CF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F6D33E4F-9D5A-6243-6FA3-C59C0DF550FB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EF96C3E9-01EA-C952-D467-A99BCB7E61AE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CCFFF82-F859-AA60-3118-51BA048E3803}"/>
              </a:ext>
            </a:extLst>
          </p:cNvPr>
          <p:cNvSpPr txBox="1"/>
          <p:nvPr/>
        </p:nvSpPr>
        <p:spPr>
          <a:xfrm>
            <a:off x="7050981" y="2821110"/>
            <a:ext cx="3928213" cy="79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DCIR (DC Internal Resistance Tester)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IR-OCV (Internal Resistance &amp; Open Circuit Voltage Tester)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OCV (Open Circuit Voltage Tester)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EDE6A9-5D3F-C437-9C0E-537E948A8B41}"/>
              </a:ext>
            </a:extLst>
          </p:cNvPr>
          <p:cNvGrpSpPr/>
          <p:nvPr/>
        </p:nvGrpSpPr>
        <p:grpSpPr>
          <a:xfrm>
            <a:off x="0" y="1997365"/>
            <a:ext cx="12192000" cy="651581"/>
            <a:chOff x="-6600825" y="1997365"/>
            <a:chExt cx="12192000" cy="65158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585496D-04E1-31B5-00D3-C9CE0F4356AA}"/>
                </a:ext>
              </a:extLst>
            </p:cNvPr>
            <p:cNvSpPr/>
            <p:nvPr/>
          </p:nvSpPr>
          <p:spPr>
            <a:xfrm>
              <a:off x="2621326" y="1997365"/>
              <a:ext cx="2969849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DC8D172-E86D-BC39-432E-5367EAE07691}"/>
                </a:ext>
              </a:extLst>
            </p:cNvPr>
            <p:cNvSpPr/>
            <p:nvPr/>
          </p:nvSpPr>
          <p:spPr>
            <a:xfrm>
              <a:off x="-6600825" y="1999516"/>
              <a:ext cx="7546540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217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6E2B-C380-353D-3430-CC9B96C5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3991516F-892C-AC7A-5F9B-B541B2770852}"/>
              </a:ext>
            </a:extLst>
          </p:cNvPr>
          <p:cNvGrpSpPr/>
          <p:nvPr/>
        </p:nvGrpSpPr>
        <p:grpSpPr>
          <a:xfrm>
            <a:off x="1162047" y="4192154"/>
            <a:ext cx="9810751" cy="2057402"/>
            <a:chOff x="1162047" y="4192154"/>
            <a:chExt cx="9810751" cy="205740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9F17C7F-EDFC-D898-CBBA-789430FB9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465"/>
            <a:stretch>
              <a:fillRect/>
            </a:stretch>
          </p:blipFill>
          <p:spPr>
            <a:xfrm flipH="1">
              <a:off x="1219198" y="4211206"/>
              <a:ext cx="9753600" cy="2038350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72A462C-B71C-7BFB-719A-97060502D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242"/>
            <a:stretch>
              <a:fillRect/>
            </a:stretch>
          </p:blipFill>
          <p:spPr>
            <a:xfrm>
              <a:off x="1162047" y="4192154"/>
              <a:ext cx="171452" cy="2057401"/>
            </a:xfrm>
            <a:prstGeom prst="rect">
              <a:avLst/>
            </a:prstGeom>
          </p:spPr>
        </p:pic>
      </p:grpSp>
      <p:pic>
        <p:nvPicPr>
          <p:cNvPr id="3" name="그래픽 2">
            <a:extLst>
              <a:ext uri="{FF2B5EF4-FFF2-40B4-BE49-F238E27FC236}">
                <a16:creationId xmlns:a16="http://schemas.microsoft.com/office/drawing/2014/main" id="{6AA51486-07C9-39E1-E7D5-531C819BA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EBF3DE53-E3C0-0B6A-51AE-6ED284746319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6FADFEB0-8212-456E-4335-B90D7A07D9E7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94435A0B-9334-F5D9-67BB-494FBE971F23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3FB37-2647-F0B3-BD15-58506D471A7A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06876DD-79BA-52B6-8849-E94620735E64}"/>
              </a:ext>
            </a:extLst>
          </p:cNvPr>
          <p:cNvCxnSpPr>
            <a:cxnSpLocks/>
          </p:cNvCxnSpPr>
          <p:nvPr/>
        </p:nvCxnSpPr>
        <p:spPr>
          <a:xfrm flipV="1">
            <a:off x="8432482" y="2828925"/>
            <a:ext cx="0" cy="2939577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61C2B7B-7C9E-978E-FB28-D3D6D21FC3EA}"/>
              </a:ext>
            </a:extLst>
          </p:cNvPr>
          <p:cNvGrpSpPr/>
          <p:nvPr/>
        </p:nvGrpSpPr>
        <p:grpSpPr>
          <a:xfrm>
            <a:off x="1064839" y="1997365"/>
            <a:ext cx="10062317" cy="594009"/>
            <a:chOff x="1064839" y="1997365"/>
            <a:chExt cx="10062317" cy="5940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DD49416-207E-110B-3986-CAA61B66C54B}"/>
                </a:ext>
              </a:extLst>
            </p:cNvPr>
            <p:cNvSpPr txBox="1"/>
            <p:nvPr/>
          </p:nvSpPr>
          <p:spPr>
            <a:xfrm>
              <a:off x="1064839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01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 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63203C-5437-7E6C-3B9E-DE8BFD9A55D5}"/>
                </a:ext>
              </a:extLst>
            </p:cNvPr>
            <p:cNvSpPr txBox="1"/>
            <p:nvPr/>
          </p:nvSpPr>
          <p:spPr>
            <a:xfrm>
              <a:off x="2844110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02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디개싱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CD5986-A41F-A918-7D47-06ECF79D061C}"/>
                </a:ext>
              </a:extLst>
            </p:cNvPr>
            <p:cNvSpPr txBox="1"/>
            <p:nvPr/>
          </p:nvSpPr>
          <p:spPr>
            <a:xfrm>
              <a:off x="4623386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03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에이징</a:t>
              </a: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공정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A55DF-1F9D-0D2C-E0F2-8050E623EDF3}"/>
                </a:ext>
              </a:extLst>
            </p:cNvPr>
            <p:cNvSpPr txBox="1"/>
            <p:nvPr/>
          </p:nvSpPr>
          <p:spPr>
            <a:xfrm>
              <a:off x="6402657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04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충〮방전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8A8BD3-11EE-A760-32EF-378C504F9D8F}"/>
                </a:ext>
              </a:extLst>
            </p:cNvPr>
            <p:cNvSpPr txBox="1"/>
            <p:nvPr/>
          </p:nvSpPr>
          <p:spPr>
            <a:xfrm>
              <a:off x="8181928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05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품질 검사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253797-6C38-6191-66B0-A49928E90135}"/>
                </a:ext>
              </a:extLst>
            </p:cNvPr>
            <p:cNvSpPr txBox="1"/>
            <p:nvPr/>
          </p:nvSpPr>
          <p:spPr>
            <a:xfrm>
              <a:off x="9961194" y="1997365"/>
              <a:ext cx="116596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b="1" dirty="0">
                  <a:solidFill>
                    <a:srgbClr val="2C579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100" b="1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불량 선별</a:t>
              </a:r>
              <a:endParaRPr lang="en-US" altLang="ko-KR" sz="11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이등변 삼각형 38">
              <a:extLst>
                <a:ext uri="{FF2B5EF4-FFF2-40B4-BE49-F238E27FC236}">
                  <a16:creationId xmlns:a16="http://schemas.microsoft.com/office/drawing/2014/main" id="{8A19C3C0-473A-B20B-0CE1-0B2463FF912F}"/>
                </a:ext>
              </a:extLst>
            </p:cNvPr>
            <p:cNvSpPr/>
            <p:nvPr/>
          </p:nvSpPr>
          <p:spPr>
            <a:xfrm rot="5400000">
              <a:off x="2437448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이등변 삼각형 39">
              <a:extLst>
                <a:ext uri="{FF2B5EF4-FFF2-40B4-BE49-F238E27FC236}">
                  <a16:creationId xmlns:a16="http://schemas.microsoft.com/office/drawing/2014/main" id="{F1E9EFC7-E417-1A18-F037-F79745FBC1C1}"/>
                </a:ext>
              </a:extLst>
            </p:cNvPr>
            <p:cNvSpPr/>
            <p:nvPr/>
          </p:nvSpPr>
          <p:spPr>
            <a:xfrm rot="5400000">
              <a:off x="4216719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extLst>
                <a:ext uri="{FF2B5EF4-FFF2-40B4-BE49-F238E27FC236}">
                  <a16:creationId xmlns:a16="http://schemas.microsoft.com/office/drawing/2014/main" id="{17B49DB7-8ECB-E637-68E1-30F74BBB624C}"/>
                </a:ext>
              </a:extLst>
            </p:cNvPr>
            <p:cNvSpPr/>
            <p:nvPr/>
          </p:nvSpPr>
          <p:spPr>
            <a:xfrm rot="5400000">
              <a:off x="5995990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이등변 삼각형 41">
              <a:extLst>
                <a:ext uri="{FF2B5EF4-FFF2-40B4-BE49-F238E27FC236}">
                  <a16:creationId xmlns:a16="http://schemas.microsoft.com/office/drawing/2014/main" id="{229A8E5C-A260-3C4B-0870-9B58F68B7D8E}"/>
                </a:ext>
              </a:extLst>
            </p:cNvPr>
            <p:cNvSpPr/>
            <p:nvPr/>
          </p:nvSpPr>
          <p:spPr>
            <a:xfrm rot="5400000">
              <a:off x="7775261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3A14EF50-99BB-4223-8B66-308975B49857}"/>
                </a:ext>
              </a:extLst>
            </p:cNvPr>
            <p:cNvSpPr/>
            <p:nvPr/>
          </p:nvSpPr>
          <p:spPr>
            <a:xfrm rot="5400000">
              <a:off x="9554532" y="2208152"/>
              <a:ext cx="200025" cy="172435"/>
            </a:xfrm>
            <a:prstGeom prst="triangle">
              <a:avLst/>
            </a:prstGeom>
            <a:solidFill>
              <a:srgbClr val="2C5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1C0978D-4D98-4E6F-40E7-4D6CAD7DBF89}"/>
              </a:ext>
            </a:extLst>
          </p:cNvPr>
          <p:cNvSpPr txBox="1"/>
          <p:nvPr/>
        </p:nvSpPr>
        <p:spPr>
          <a:xfrm>
            <a:off x="8529591" y="2821110"/>
            <a:ext cx="3928213" cy="306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DSF/EOL (Double Side Folding / End Of Line)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F81BB34-C196-8E7F-E16E-D17A3145BA4E}"/>
              </a:ext>
            </a:extLst>
          </p:cNvPr>
          <p:cNvGrpSpPr/>
          <p:nvPr/>
        </p:nvGrpSpPr>
        <p:grpSpPr>
          <a:xfrm>
            <a:off x="171452" y="1997365"/>
            <a:ext cx="12020549" cy="651581"/>
            <a:chOff x="-7829548" y="1997365"/>
            <a:chExt cx="12020549" cy="65158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D56C9E4-388E-20FD-30E1-5DE022C4AE63}"/>
                </a:ext>
              </a:extLst>
            </p:cNvPr>
            <p:cNvSpPr/>
            <p:nvPr/>
          </p:nvSpPr>
          <p:spPr>
            <a:xfrm>
              <a:off x="2621327" y="1997365"/>
              <a:ext cx="1569674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BA63590-6FB4-10DF-919E-84CDDF4BBAFB}"/>
                </a:ext>
              </a:extLst>
            </p:cNvPr>
            <p:cNvSpPr/>
            <p:nvPr/>
          </p:nvSpPr>
          <p:spPr>
            <a:xfrm>
              <a:off x="-7829548" y="1999516"/>
              <a:ext cx="8775263" cy="649430"/>
            </a:xfrm>
            <a:prstGeom prst="rect">
              <a:avLst/>
            </a:prstGeom>
            <a:solidFill>
              <a:schemeClr val="bg1">
                <a:alpha val="7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735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E1B9-A959-D13D-E848-6FB54B2F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6152D57B-752B-6404-98AA-F383883B3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962" y="6445055"/>
            <a:ext cx="844228" cy="178494"/>
          </a:xfrm>
          <a:prstGeom prst="rect">
            <a:avLst/>
          </a:prstGeom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53010A3D-8911-8BCE-B314-BC73E12844A2}"/>
              </a:ext>
            </a:extLst>
          </p:cNvPr>
          <p:cNvSpPr txBox="1"/>
          <p:nvPr/>
        </p:nvSpPr>
        <p:spPr>
          <a:xfrm>
            <a:off x="473886" y="598920"/>
            <a:ext cx="57364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스마트 제조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Smart Factory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BC7FFD43-5094-5E51-F323-E8C23B9E7FF8}"/>
              </a:ext>
            </a:extLst>
          </p:cNvPr>
          <p:cNvSpPr txBox="1"/>
          <p:nvPr/>
        </p:nvSpPr>
        <p:spPr>
          <a:xfrm>
            <a:off x="967638" y="1060585"/>
            <a:ext cx="2175596" cy="378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이차전지 활성화 </a:t>
            </a:r>
            <a:r>
              <a:rPr lang="ko-KR" altLang="en-US" sz="1400" b="1" dirty="0" err="1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전공정</a:t>
            </a:r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설비</a:t>
            </a:r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A965EB6B-534E-2E41-9A15-C990FA85A2E8}"/>
              </a:ext>
            </a:extLst>
          </p:cNvPr>
          <p:cNvSpPr/>
          <p:nvPr/>
        </p:nvSpPr>
        <p:spPr>
          <a:xfrm>
            <a:off x="5729162" y="6626225"/>
            <a:ext cx="733673" cy="2317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 latinLnBrk="0"/>
            <a:r>
              <a:rPr lang="en-US" sz="900" kern="0" spc="48">
                <a:solidFill>
                  <a:srgbClr val="343A40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solidFill>
                <a:srgbClr val="343A4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795A7-365D-D6E0-0076-3C7922A0256E}"/>
              </a:ext>
            </a:extLst>
          </p:cNvPr>
          <p:cNvSpPr txBox="1"/>
          <p:nvPr/>
        </p:nvSpPr>
        <p:spPr>
          <a:xfrm>
            <a:off x="10802008" y="183959"/>
            <a:ext cx="1237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solidFill>
                  <a:srgbClr val="90652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CONFIDENTAL</a:t>
            </a:r>
            <a:endParaRPr lang="ko-KR" altLang="en-US" sz="1200" dirty="0">
              <a:solidFill>
                <a:srgbClr val="90652C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7D9A76-93D7-C7C8-FFA6-9E2213B08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3195493"/>
            <a:ext cx="9753600" cy="2672057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87D68A6F-E0DC-18D8-1F64-CD4C06FA32AC}"/>
              </a:ext>
            </a:extLst>
          </p:cNvPr>
          <p:cNvCxnSpPr>
            <a:cxnSpLocks/>
            <a:stCxn id="215" idx="1"/>
            <a:endCxn id="29" idx="3"/>
          </p:cNvCxnSpPr>
          <p:nvPr/>
        </p:nvCxnSpPr>
        <p:spPr>
          <a:xfrm flipH="1">
            <a:off x="10534982" y="5627489"/>
            <a:ext cx="639135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16DC77-1229-C536-F2C1-CFCCAEE07B40}"/>
              </a:ext>
            </a:extLst>
          </p:cNvPr>
          <p:cNvSpPr/>
          <p:nvPr/>
        </p:nvSpPr>
        <p:spPr>
          <a:xfrm>
            <a:off x="9953625" y="505833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2CDFACE-C406-D6B3-001E-53513C999AD4}"/>
              </a:ext>
            </a:extLst>
          </p:cNvPr>
          <p:cNvSpPr/>
          <p:nvPr/>
        </p:nvSpPr>
        <p:spPr>
          <a:xfrm>
            <a:off x="9667875" y="505833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C257F2-FCEA-041B-62DC-D08D049818F7}"/>
              </a:ext>
            </a:extLst>
          </p:cNvPr>
          <p:cNvSpPr/>
          <p:nvPr/>
        </p:nvSpPr>
        <p:spPr>
          <a:xfrm>
            <a:off x="10363532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1791D1D-6987-242D-B62B-D35A84E25A13}"/>
              </a:ext>
            </a:extLst>
          </p:cNvPr>
          <p:cNvSpPr/>
          <p:nvPr/>
        </p:nvSpPr>
        <p:spPr>
          <a:xfrm>
            <a:off x="9265920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7563403-DDF1-8504-9A03-B5F7E151957A}"/>
              </a:ext>
            </a:extLst>
          </p:cNvPr>
          <p:cNvSpPr/>
          <p:nvPr/>
        </p:nvSpPr>
        <p:spPr>
          <a:xfrm>
            <a:off x="8885252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D0AD89B-F9D6-815C-E84E-A7FAC182C6A6}"/>
              </a:ext>
            </a:extLst>
          </p:cNvPr>
          <p:cNvSpPr/>
          <p:nvPr/>
        </p:nvSpPr>
        <p:spPr>
          <a:xfrm>
            <a:off x="8568358" y="486279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F1C0773-58F1-6206-4A47-BF2C1B1D723D}"/>
              </a:ext>
            </a:extLst>
          </p:cNvPr>
          <p:cNvSpPr/>
          <p:nvPr/>
        </p:nvSpPr>
        <p:spPr>
          <a:xfrm>
            <a:off x="8320044" y="486279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884A889-A945-BD47-516E-9EE883040BEA}"/>
              </a:ext>
            </a:extLst>
          </p:cNvPr>
          <p:cNvSpPr/>
          <p:nvPr/>
        </p:nvSpPr>
        <p:spPr>
          <a:xfrm>
            <a:off x="8043819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A6E7D8A-9482-68FB-EE79-94D5A9B50845}"/>
              </a:ext>
            </a:extLst>
          </p:cNvPr>
          <p:cNvSpPr/>
          <p:nvPr/>
        </p:nvSpPr>
        <p:spPr>
          <a:xfrm>
            <a:off x="7462794" y="432939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A5EE87D-89E1-59E4-A1B8-5542D1255274}"/>
              </a:ext>
            </a:extLst>
          </p:cNvPr>
          <p:cNvSpPr/>
          <p:nvPr/>
        </p:nvSpPr>
        <p:spPr>
          <a:xfrm>
            <a:off x="7177044" y="4329390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0F1409-69A1-599F-7E05-3171F0BE2C99}"/>
              </a:ext>
            </a:extLst>
          </p:cNvPr>
          <p:cNvSpPr/>
          <p:nvPr/>
        </p:nvSpPr>
        <p:spPr>
          <a:xfrm>
            <a:off x="6843669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EC0B76-C021-B8D6-91CC-E55F46FEB91F}"/>
              </a:ext>
            </a:extLst>
          </p:cNvPr>
          <p:cNvSpPr/>
          <p:nvPr/>
        </p:nvSpPr>
        <p:spPr>
          <a:xfrm>
            <a:off x="6043569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BE5CB9-04CA-F528-ECCD-53A37BA95E6D}"/>
              </a:ext>
            </a:extLst>
          </p:cNvPr>
          <p:cNvSpPr/>
          <p:nvPr/>
        </p:nvSpPr>
        <p:spPr>
          <a:xfrm>
            <a:off x="5285297" y="3948945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D9AF81E-5AC6-BC09-9177-DD75F6FBC32D}"/>
              </a:ext>
            </a:extLst>
          </p:cNvPr>
          <p:cNvSpPr/>
          <p:nvPr/>
        </p:nvSpPr>
        <p:spPr>
          <a:xfrm>
            <a:off x="5285297" y="4148137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ACCC5DC-8973-58DC-CBFB-B0F13B49F079}"/>
              </a:ext>
            </a:extLst>
          </p:cNvPr>
          <p:cNvSpPr/>
          <p:nvPr/>
        </p:nvSpPr>
        <p:spPr>
          <a:xfrm>
            <a:off x="5323313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A93C600-1354-4959-3ED7-6752A5FB6FCB}"/>
              </a:ext>
            </a:extLst>
          </p:cNvPr>
          <p:cNvSpPr/>
          <p:nvPr/>
        </p:nvSpPr>
        <p:spPr>
          <a:xfrm>
            <a:off x="3650636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1172B7-C9A0-53B4-D9EB-06077ADBAA22}"/>
              </a:ext>
            </a:extLst>
          </p:cNvPr>
          <p:cNvSpPr/>
          <p:nvPr/>
        </p:nvSpPr>
        <p:spPr>
          <a:xfrm>
            <a:off x="2630169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79432E-3178-CC55-0D1B-A9E22A9233F2}"/>
              </a:ext>
            </a:extLst>
          </p:cNvPr>
          <p:cNvSpPr/>
          <p:nvPr/>
        </p:nvSpPr>
        <p:spPr>
          <a:xfrm>
            <a:off x="2274511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73F3998-725F-0F04-18C5-EF8FEF04A77E}"/>
              </a:ext>
            </a:extLst>
          </p:cNvPr>
          <p:cNvSpPr/>
          <p:nvPr/>
        </p:nvSpPr>
        <p:spPr>
          <a:xfrm>
            <a:off x="979052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E711375-5C08-CDB9-6A7D-3798E17257D8}"/>
              </a:ext>
            </a:extLst>
          </p:cNvPr>
          <p:cNvCxnSpPr>
            <a:cxnSpLocks/>
            <a:stCxn id="29" idx="1"/>
            <a:endCxn id="27" idx="2"/>
          </p:cNvCxnSpPr>
          <p:nvPr/>
        </p:nvCxnSpPr>
        <p:spPr>
          <a:xfrm rot="10800000">
            <a:off x="10039350" y="5181601"/>
            <a:ext cx="324182" cy="445889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724494BC-BC9D-B296-38BD-AFDEF0FDCDFA}"/>
              </a:ext>
            </a:extLst>
          </p:cNvPr>
          <p:cNvCxnSpPr>
            <a:cxnSpLocks/>
            <a:stCxn id="28" idx="2"/>
            <a:endCxn id="30" idx="3"/>
          </p:cNvCxnSpPr>
          <p:nvPr/>
        </p:nvCxnSpPr>
        <p:spPr>
          <a:xfrm rot="5400000">
            <a:off x="9372541" y="5246429"/>
            <a:ext cx="445889" cy="316230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71BFC27-5E4E-BE28-913F-C878AD566610}"/>
              </a:ext>
            </a:extLst>
          </p:cNvPr>
          <p:cNvCxnSpPr>
            <a:cxnSpLocks/>
            <a:stCxn id="43" idx="1"/>
            <a:endCxn id="44" idx="3"/>
          </p:cNvCxnSpPr>
          <p:nvPr/>
        </p:nvCxnSpPr>
        <p:spPr>
          <a:xfrm flipH="1">
            <a:off x="3822086" y="5627489"/>
            <a:ext cx="1501227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EB541DA-2DDC-96C3-0CD5-ADE1F04BD61A}"/>
              </a:ext>
            </a:extLst>
          </p:cNvPr>
          <p:cNvCxnSpPr>
            <a:cxnSpLocks/>
            <a:stCxn id="31" idx="1"/>
            <a:endCxn id="32" idx="2"/>
          </p:cNvCxnSpPr>
          <p:nvPr/>
        </p:nvCxnSpPr>
        <p:spPr>
          <a:xfrm rot="10800000">
            <a:off x="8654084" y="4986061"/>
            <a:ext cx="231169" cy="641429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6D9822D3-76CA-11FD-B235-86DAE34F2681}"/>
              </a:ext>
            </a:extLst>
          </p:cNvPr>
          <p:cNvCxnSpPr>
            <a:cxnSpLocks/>
            <a:stCxn id="33" idx="2"/>
            <a:endCxn id="34" idx="3"/>
          </p:cNvCxnSpPr>
          <p:nvPr/>
        </p:nvCxnSpPr>
        <p:spPr>
          <a:xfrm rot="5400000">
            <a:off x="7989805" y="5211524"/>
            <a:ext cx="641429" cy="190500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C0FA8E93-47D1-27FE-F87F-97B927FB5A16}"/>
              </a:ext>
            </a:extLst>
          </p:cNvPr>
          <p:cNvCxnSpPr>
            <a:cxnSpLocks/>
            <a:stCxn id="34" idx="1"/>
            <a:endCxn id="35" idx="2"/>
          </p:cNvCxnSpPr>
          <p:nvPr/>
        </p:nvCxnSpPr>
        <p:spPr>
          <a:xfrm rot="10800000">
            <a:off x="7548519" y="4452661"/>
            <a:ext cx="495300" cy="1174829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연결선: 꺾임 191">
            <a:extLst>
              <a:ext uri="{FF2B5EF4-FFF2-40B4-BE49-F238E27FC236}">
                <a16:creationId xmlns:a16="http://schemas.microsoft.com/office/drawing/2014/main" id="{A50BFCB9-BCA7-C746-5F87-A8858EE8686C}"/>
              </a:ext>
            </a:extLst>
          </p:cNvPr>
          <p:cNvCxnSpPr>
            <a:cxnSpLocks/>
            <a:stCxn id="36" idx="2"/>
            <a:endCxn id="37" idx="3"/>
          </p:cNvCxnSpPr>
          <p:nvPr/>
        </p:nvCxnSpPr>
        <p:spPr>
          <a:xfrm rot="5400000">
            <a:off x="6551530" y="4916249"/>
            <a:ext cx="1174829" cy="247650"/>
          </a:xfrm>
          <a:prstGeom prst="bentConnector2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03375C17-B133-9A83-F11A-CB7E20E9A828}"/>
              </a:ext>
            </a:extLst>
          </p:cNvPr>
          <p:cNvCxnSpPr>
            <a:cxnSpLocks/>
            <a:stCxn id="38" idx="1"/>
            <a:endCxn id="39" idx="3"/>
          </p:cNvCxnSpPr>
          <p:nvPr/>
        </p:nvCxnSpPr>
        <p:spPr>
          <a:xfrm rot="10800000">
            <a:off x="5456747" y="4010581"/>
            <a:ext cx="586822" cy="1616909"/>
          </a:xfrm>
          <a:prstGeom prst="bentConnector3">
            <a:avLst>
              <a:gd name="adj1" fmla="val 22731"/>
            </a:avLst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연결선: 꺾임 199">
            <a:extLst>
              <a:ext uri="{FF2B5EF4-FFF2-40B4-BE49-F238E27FC236}">
                <a16:creationId xmlns:a16="http://schemas.microsoft.com/office/drawing/2014/main" id="{C4AB7F86-5B10-8500-DBB2-3C587081E89D}"/>
              </a:ext>
            </a:extLst>
          </p:cNvPr>
          <p:cNvCxnSpPr>
            <a:cxnSpLocks/>
            <a:stCxn id="42" idx="3"/>
            <a:endCxn id="43" idx="3"/>
          </p:cNvCxnSpPr>
          <p:nvPr/>
        </p:nvCxnSpPr>
        <p:spPr>
          <a:xfrm>
            <a:off x="5456747" y="4209772"/>
            <a:ext cx="38016" cy="1417717"/>
          </a:xfrm>
          <a:prstGeom prst="bentConnector3">
            <a:avLst>
              <a:gd name="adj1" fmla="val 701326"/>
            </a:avLst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>
            <a:extLst>
              <a:ext uri="{FF2B5EF4-FFF2-40B4-BE49-F238E27FC236}">
                <a16:creationId xmlns:a16="http://schemas.microsoft.com/office/drawing/2014/main" id="{28557527-B368-E939-60D3-2C1FC3F221CA}"/>
              </a:ext>
            </a:extLst>
          </p:cNvPr>
          <p:cNvCxnSpPr>
            <a:cxnSpLocks/>
            <a:stCxn id="44" idx="1"/>
            <a:endCxn id="45" idx="3"/>
          </p:cNvCxnSpPr>
          <p:nvPr/>
        </p:nvCxnSpPr>
        <p:spPr>
          <a:xfrm flipH="1">
            <a:off x="2801619" y="5627489"/>
            <a:ext cx="849017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화살표 연결선 210">
            <a:extLst>
              <a:ext uri="{FF2B5EF4-FFF2-40B4-BE49-F238E27FC236}">
                <a16:creationId xmlns:a16="http://schemas.microsoft.com/office/drawing/2014/main" id="{52094B43-4142-013F-B1F1-2A785034B0B3}"/>
              </a:ext>
            </a:extLst>
          </p:cNvPr>
          <p:cNvCxnSpPr>
            <a:cxnSpLocks/>
            <a:stCxn id="46" idx="1"/>
            <a:endCxn id="47" idx="3"/>
          </p:cNvCxnSpPr>
          <p:nvPr/>
        </p:nvCxnSpPr>
        <p:spPr>
          <a:xfrm flipH="1">
            <a:off x="1150502" y="5627489"/>
            <a:ext cx="1124009" cy="0"/>
          </a:xfrm>
          <a:prstGeom prst="straightConnector1">
            <a:avLst/>
          </a:prstGeom>
          <a:ln w="412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424B9061-4178-0834-7D28-89F699EE7950}"/>
              </a:ext>
            </a:extLst>
          </p:cNvPr>
          <p:cNvSpPr/>
          <p:nvPr/>
        </p:nvSpPr>
        <p:spPr>
          <a:xfrm>
            <a:off x="11174117" y="5565854"/>
            <a:ext cx="171450" cy="1232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457AB6FF-207A-FB6B-E768-16624ECFF41D}"/>
              </a:ext>
            </a:extLst>
          </p:cNvPr>
          <p:cNvSpPr txBox="1"/>
          <p:nvPr/>
        </p:nvSpPr>
        <p:spPr>
          <a:xfrm>
            <a:off x="11250981" y="5473600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입하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6F93473-4E7A-8E2F-1253-703916566254}"/>
              </a:ext>
            </a:extLst>
          </p:cNvPr>
          <p:cNvSpPr txBox="1"/>
          <p:nvPr/>
        </p:nvSpPr>
        <p:spPr>
          <a:xfrm>
            <a:off x="575769" y="5473600"/>
            <a:ext cx="495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2C579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출하</a:t>
            </a: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CCDAB441-5182-C26E-4065-7B8CF59C4A7B}"/>
              </a:ext>
            </a:extLst>
          </p:cNvPr>
          <p:cNvSpPr/>
          <p:nvPr/>
        </p:nvSpPr>
        <p:spPr>
          <a:xfrm>
            <a:off x="9227156" y="2733277"/>
            <a:ext cx="1307826" cy="2514086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C8B71085-DAC7-0C7A-4832-1DD94A862DF8}"/>
              </a:ext>
            </a:extLst>
          </p:cNvPr>
          <p:cNvSpPr/>
          <p:nvPr/>
        </p:nvSpPr>
        <p:spPr>
          <a:xfrm>
            <a:off x="8127426" y="2733277"/>
            <a:ext cx="894859" cy="2514086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3E122BC7-F699-7693-A9B1-B8C9846A1D14}"/>
              </a:ext>
            </a:extLst>
          </p:cNvPr>
          <p:cNvSpPr/>
          <p:nvPr/>
        </p:nvSpPr>
        <p:spPr>
          <a:xfrm>
            <a:off x="5871833" y="2733277"/>
            <a:ext cx="1938754" cy="2514086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직사각형 228">
            <a:extLst>
              <a:ext uri="{FF2B5EF4-FFF2-40B4-BE49-F238E27FC236}">
                <a16:creationId xmlns:a16="http://schemas.microsoft.com/office/drawing/2014/main" id="{266991B7-944D-BB91-099F-F60D17DF9E16}"/>
              </a:ext>
            </a:extLst>
          </p:cNvPr>
          <p:cNvSpPr/>
          <p:nvPr/>
        </p:nvSpPr>
        <p:spPr>
          <a:xfrm>
            <a:off x="1657018" y="2733277"/>
            <a:ext cx="3927043" cy="2514086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54342FC7-A239-1861-F893-FF24B6B8773F}"/>
              </a:ext>
            </a:extLst>
          </p:cNvPr>
          <p:cNvSpPr/>
          <p:nvPr/>
        </p:nvSpPr>
        <p:spPr>
          <a:xfrm>
            <a:off x="3879648" y="5332986"/>
            <a:ext cx="1440066" cy="1067787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19EA7ED0-00B0-640D-E47A-34981425C399}"/>
              </a:ext>
            </a:extLst>
          </p:cNvPr>
          <p:cNvSpPr/>
          <p:nvPr/>
        </p:nvSpPr>
        <p:spPr>
          <a:xfrm>
            <a:off x="2931076" y="5332986"/>
            <a:ext cx="840194" cy="1067787"/>
          </a:xfrm>
          <a:prstGeom prst="rect">
            <a:avLst/>
          </a:prstGeom>
          <a:solidFill>
            <a:schemeClr val="accent1"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27FB4A2-C659-B8AF-87D3-20D7EE42487E}"/>
              </a:ext>
            </a:extLst>
          </p:cNvPr>
          <p:cNvSpPr txBox="1"/>
          <p:nvPr/>
        </p:nvSpPr>
        <p:spPr>
          <a:xfrm>
            <a:off x="4125624" y="605913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 IR-OCV</a:t>
            </a:r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ACE3EFB-8B39-7B26-81CE-7451EE78B0AF}"/>
              </a:ext>
            </a:extLst>
          </p:cNvPr>
          <p:cNvSpPr txBox="1"/>
          <p:nvPr/>
        </p:nvSpPr>
        <p:spPr>
          <a:xfrm>
            <a:off x="2630169" y="6092999"/>
            <a:ext cx="13260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 EOL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Tester</a:t>
            </a:r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96EBBFB-656F-C96A-FF65-FE48BB615A09}"/>
              </a:ext>
            </a:extLst>
          </p:cNvPr>
          <p:cNvSpPr txBox="1"/>
          <p:nvPr/>
        </p:nvSpPr>
        <p:spPr>
          <a:xfrm>
            <a:off x="9177611" y="2753411"/>
            <a:ext cx="38331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Pre-formation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1400" b="1" dirty="0" err="1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고온가압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충방전기 </a:t>
            </a:r>
            <a:b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(High Temperature, Pressure, Formation)</a:t>
            </a:r>
          </a:p>
          <a:p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A3BDE6BD-95C0-7668-37D9-A34298138127}"/>
              </a:ext>
            </a:extLst>
          </p:cNvPr>
          <p:cNvSpPr txBox="1"/>
          <p:nvPr/>
        </p:nvSpPr>
        <p:spPr>
          <a:xfrm>
            <a:off x="8114632" y="2753411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Degas</a:t>
            </a:r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A8DC08B5-2018-3D0B-4448-42CDBF7DA946}"/>
              </a:ext>
            </a:extLst>
          </p:cNvPr>
          <p:cNvSpPr txBox="1"/>
          <p:nvPr/>
        </p:nvSpPr>
        <p:spPr>
          <a:xfrm>
            <a:off x="6482797" y="2753411"/>
            <a:ext cx="893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Aging</a:t>
            </a:r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584412E6-48F8-6C96-B2E3-7C2010E85A38}"/>
              </a:ext>
            </a:extLst>
          </p:cNvPr>
          <p:cNvSpPr txBox="1"/>
          <p:nvPr/>
        </p:nvSpPr>
        <p:spPr>
          <a:xfrm>
            <a:off x="2992803" y="2753411"/>
            <a:ext cx="1255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Formation</a:t>
            </a:r>
            <a:endParaRPr lang="ko-KR" altLang="en-US" sz="1400" b="1" dirty="0">
              <a:solidFill>
                <a:srgbClr val="FF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9813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911E2B-0B23-491C-B4B5-20C90D5C3BE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5cf0ddf-e2bd-4279-a07b-dcf1416b413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540</Words>
  <Application>Microsoft Office PowerPoint</Application>
  <PresentationFormat>와이드스크린</PresentationFormat>
  <Paragraphs>166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apro19</dc:creator>
  <cp:lastModifiedBy>apro19</cp:lastModifiedBy>
  <cp:revision>33</cp:revision>
  <dcterms:created xsi:type="dcterms:W3CDTF">2026-07-21T00:05:16Z</dcterms:created>
  <dcterms:modified xsi:type="dcterms:W3CDTF">2026-08-10T01:35:38Z</dcterms:modified>
</cp:coreProperties>
</file>